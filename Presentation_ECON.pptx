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5FD687-70ED-498E-AACD-F89F98F5317D}" v="328" dt="2026-03-20T18:32:48.5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2D77D-CC8E-1904-BA0D-E41149017D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F2900F-CA13-53BD-D1D9-D254593394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CA971B-D368-38D8-6CE8-E464AB7B7183}"/>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5" name="Footer Placeholder 4">
            <a:extLst>
              <a:ext uri="{FF2B5EF4-FFF2-40B4-BE49-F238E27FC236}">
                <a16:creationId xmlns:a16="http://schemas.microsoft.com/office/drawing/2014/main" id="{0CB63497-3DA3-9E5C-5609-B07C1DA7A8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1E4F40-CAC0-1174-2A8D-EC54E117A635}"/>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551028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81970-92A2-B599-EE3A-B018C0BCD1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DD5B38-2981-AF94-480E-46D7B6C157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562DB9-7EB8-C598-4832-C1F49D3C8841}"/>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5" name="Footer Placeholder 4">
            <a:extLst>
              <a:ext uri="{FF2B5EF4-FFF2-40B4-BE49-F238E27FC236}">
                <a16:creationId xmlns:a16="http://schemas.microsoft.com/office/drawing/2014/main" id="{26A1E517-5861-F44F-5289-FCE58C631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D736B0-CA2C-F0F8-43EF-905CBB3509D6}"/>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487342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34A04-AC24-3002-6451-9245388E33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2C9F34-CD4B-698C-90D0-E2E7A028C5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833679-B2AC-F512-4164-4CE7B73D6E22}"/>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5" name="Footer Placeholder 4">
            <a:extLst>
              <a:ext uri="{FF2B5EF4-FFF2-40B4-BE49-F238E27FC236}">
                <a16:creationId xmlns:a16="http://schemas.microsoft.com/office/drawing/2014/main" id="{513E9471-7017-8152-954A-8916531473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5B1DB9-348F-78CD-C57A-48F38A7CF592}"/>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3404932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69EF-0333-1122-3C1A-37DBF19D0A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ABB7D2-D02E-2188-698E-BC640C70B7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09F118-57EA-3E3A-9F79-B99EB971D3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8EA9C6-1A52-96E8-C51A-E3046C8A6FA8}"/>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6" name="Footer Placeholder 5">
            <a:extLst>
              <a:ext uri="{FF2B5EF4-FFF2-40B4-BE49-F238E27FC236}">
                <a16:creationId xmlns:a16="http://schemas.microsoft.com/office/drawing/2014/main" id="{DAF02612-ACA4-D532-C005-2FFBC2D9D5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9B2F6-0F60-8F5C-2ACD-57F3D274D9F7}"/>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986000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AB45-B04C-6562-9B77-B4508FC08D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419DEA-FF22-CD0D-69E6-C30149513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4E2880-F1BE-6925-E8A0-EEE4E666E7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EB6974-5D50-E16A-47C1-4ED8DBEEE4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CB5966-E7F5-7DA5-43FA-20358FD3FB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1A896E-FCE9-5E55-D82A-ACD1789AE9FC}"/>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8" name="Footer Placeholder 7">
            <a:extLst>
              <a:ext uri="{FF2B5EF4-FFF2-40B4-BE49-F238E27FC236}">
                <a16:creationId xmlns:a16="http://schemas.microsoft.com/office/drawing/2014/main" id="{CD103506-946D-70EC-F798-D932D43735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54559E-4F96-9767-AD11-273ECC7CAB91}"/>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3811427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E27EC-B865-1A8D-CD98-0926719195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1EB77C-CBC5-63EF-318C-B3F23952A037}"/>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4" name="Footer Placeholder 3">
            <a:extLst>
              <a:ext uri="{FF2B5EF4-FFF2-40B4-BE49-F238E27FC236}">
                <a16:creationId xmlns:a16="http://schemas.microsoft.com/office/drawing/2014/main" id="{BAC4D339-60E0-8529-3D13-E449FF3DE2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081757-9EBF-76C4-3318-D6A5E16B38C1}"/>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66618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040CD-C3AB-E262-8AAE-C7D0A8CE2CE6}"/>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3" name="Footer Placeholder 2">
            <a:extLst>
              <a:ext uri="{FF2B5EF4-FFF2-40B4-BE49-F238E27FC236}">
                <a16:creationId xmlns:a16="http://schemas.microsoft.com/office/drawing/2014/main" id="{094DC168-8587-10AF-5B67-DF79E60713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9ADDD8-CB1E-427E-D416-F91BF59F06C9}"/>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2977226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2A37-6258-B014-1D66-8053D9BE91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6D925A-02C8-CC6D-6247-C4C1662590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7D3FBE-A493-575A-E8DB-8651D0F091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CFA178-5F3D-F6FD-51B0-9DAA84CADAC2}"/>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6" name="Footer Placeholder 5">
            <a:extLst>
              <a:ext uri="{FF2B5EF4-FFF2-40B4-BE49-F238E27FC236}">
                <a16:creationId xmlns:a16="http://schemas.microsoft.com/office/drawing/2014/main" id="{2C9B982B-D31F-A3E7-B18B-4572B64193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08771F-2676-3F49-747B-260F72041102}"/>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1021158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DB1BB-BEA9-3E7F-60BB-3559944F8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A98F50-6EE0-A560-5E96-F8B371BCB9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4E3A91-1F60-11DB-C38F-E042B84D5F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CDC9E1-B43A-4A95-19C2-A1081E83E325}"/>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6" name="Footer Placeholder 5">
            <a:extLst>
              <a:ext uri="{FF2B5EF4-FFF2-40B4-BE49-F238E27FC236}">
                <a16:creationId xmlns:a16="http://schemas.microsoft.com/office/drawing/2014/main" id="{C6E3799D-FCF7-31BA-CB0D-058A695180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83E315-8C04-51B6-8B6A-97BF9A8B1B7B}"/>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14932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59C5B-4158-B28E-EE09-D6936B367F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437995-EE49-393D-02EF-133D1FA56D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BACBF9-3DF1-04C0-3CAF-148DCF6E1D30}"/>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5" name="Footer Placeholder 4">
            <a:extLst>
              <a:ext uri="{FF2B5EF4-FFF2-40B4-BE49-F238E27FC236}">
                <a16:creationId xmlns:a16="http://schemas.microsoft.com/office/drawing/2014/main" id="{01F5D102-3396-1BEC-B864-4AE8FA815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E63CE-81A5-1E01-55ED-28CEDFEB6A4C}"/>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41740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07EA91-EE11-317C-1913-218A78253D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660C51-40FD-CE87-2531-E42A23A3A6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1D5581-928C-0BFE-3E3A-6EE69120CC4D}"/>
              </a:ext>
            </a:extLst>
          </p:cNvPr>
          <p:cNvSpPr>
            <a:spLocks noGrp="1"/>
          </p:cNvSpPr>
          <p:nvPr>
            <p:ph type="dt" sz="half" idx="10"/>
          </p:nvPr>
        </p:nvSpPr>
        <p:spPr/>
        <p:txBody>
          <a:bodyPr/>
          <a:lstStyle/>
          <a:p>
            <a:fld id="{171047A2-AD70-44D8-AADB-48005D0157EB}" type="datetimeFigureOut">
              <a:rPr lang="en-US" smtClean="0"/>
              <a:t>3/20/2026</a:t>
            </a:fld>
            <a:endParaRPr lang="en-US"/>
          </a:p>
        </p:txBody>
      </p:sp>
      <p:sp>
        <p:nvSpPr>
          <p:cNvPr id="5" name="Footer Placeholder 4">
            <a:extLst>
              <a:ext uri="{FF2B5EF4-FFF2-40B4-BE49-F238E27FC236}">
                <a16:creationId xmlns:a16="http://schemas.microsoft.com/office/drawing/2014/main" id="{0AAE6BDC-BFA7-C633-A96B-03683C21FE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9BBADA-228F-A56A-BFA7-C76B5965FFDB}"/>
              </a:ext>
            </a:extLst>
          </p:cNvPr>
          <p:cNvSpPr>
            <a:spLocks noGrp="1"/>
          </p:cNvSpPr>
          <p:nvPr>
            <p:ph type="sldNum" sz="quarter" idx="12"/>
          </p:nvPr>
        </p:nvSpPr>
        <p:spPr/>
        <p:txBody>
          <a:bodyPr/>
          <a:lstStyle/>
          <a:p>
            <a:fld id="{E165F8BE-0ED9-45C9-A471-995745F25834}" type="slidenum">
              <a:rPr lang="en-US" smtClean="0"/>
              <a:t>‹#›</a:t>
            </a:fld>
            <a:endParaRPr lang="en-US"/>
          </a:p>
        </p:txBody>
      </p:sp>
    </p:spTree>
    <p:extLst>
      <p:ext uri="{BB962C8B-B14F-4D97-AF65-F5344CB8AC3E}">
        <p14:creationId xmlns:p14="http://schemas.microsoft.com/office/powerpoint/2010/main" val="69122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F70DB5-2690-9BDF-407F-4A87B14DB5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8C26A0-F4F6-F4C7-9A7C-D85B5120C7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076162-60E8-810D-901D-E5353442C1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1047A2-AD70-44D8-AADB-48005D0157EB}" type="datetimeFigureOut">
              <a:rPr lang="en-US" smtClean="0"/>
              <a:t>3/20/2026</a:t>
            </a:fld>
            <a:endParaRPr lang="en-US"/>
          </a:p>
        </p:txBody>
      </p:sp>
      <p:sp>
        <p:nvSpPr>
          <p:cNvPr id="5" name="Footer Placeholder 4">
            <a:extLst>
              <a:ext uri="{FF2B5EF4-FFF2-40B4-BE49-F238E27FC236}">
                <a16:creationId xmlns:a16="http://schemas.microsoft.com/office/drawing/2014/main" id="{5B0F2FE0-A7FF-F1A8-93A2-0787677659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57DBAA-3D44-000C-3C9A-FC4AAFADC3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65F8BE-0ED9-45C9-A471-995745F25834}" type="slidenum">
              <a:rPr lang="en-US" smtClean="0"/>
              <a:t>‹#›</a:t>
            </a:fld>
            <a:endParaRPr lang="en-US"/>
          </a:p>
        </p:txBody>
      </p:sp>
    </p:spTree>
    <p:extLst>
      <p:ext uri="{BB962C8B-B14F-4D97-AF65-F5344CB8AC3E}">
        <p14:creationId xmlns:p14="http://schemas.microsoft.com/office/powerpoint/2010/main" val="4061945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F55AC-97A5-A431-5EA9-10AAC5DF8B3D}"/>
              </a:ext>
            </a:extLst>
          </p:cNvPr>
          <p:cNvSpPr>
            <a:spLocks noGrp="1"/>
          </p:cNvSpPr>
          <p:nvPr>
            <p:ph type="ctrTitle"/>
          </p:nvPr>
        </p:nvSpPr>
        <p:spPr>
          <a:xfrm>
            <a:off x="1524000" y="585216"/>
            <a:ext cx="9144000" cy="2924747"/>
          </a:xfrm>
        </p:spPr>
        <p:txBody>
          <a:bodyPr>
            <a:normAutofit/>
          </a:bodyPr>
          <a:lstStyle/>
          <a:p>
            <a:r>
              <a:rPr lang="en-US" sz="4000"/>
              <a:t>Deterrent Effects of DUI Punishment at the 0.08 BAC Threshold: </a:t>
            </a:r>
            <a:br>
              <a:rPr lang="en-US" sz="4000"/>
            </a:br>
            <a:r>
              <a:rPr lang="en-US" sz="4000"/>
              <a:t>Evidence from a Regression Discontinuity Design</a:t>
            </a:r>
            <a:br>
              <a:rPr lang="en-US" sz="4000"/>
            </a:br>
            <a:endParaRPr lang="en-US" sz="4000"/>
          </a:p>
        </p:txBody>
      </p:sp>
      <p:sp>
        <p:nvSpPr>
          <p:cNvPr id="3" name="Subtitle 2">
            <a:extLst>
              <a:ext uri="{FF2B5EF4-FFF2-40B4-BE49-F238E27FC236}">
                <a16:creationId xmlns:a16="http://schemas.microsoft.com/office/drawing/2014/main" id="{91252BCC-0BBF-3466-96A1-EBB842B398B4}"/>
              </a:ext>
            </a:extLst>
          </p:cNvPr>
          <p:cNvSpPr>
            <a:spLocks noGrp="1"/>
          </p:cNvSpPr>
          <p:nvPr>
            <p:ph type="subTitle" idx="1"/>
          </p:nvPr>
        </p:nvSpPr>
        <p:spPr/>
        <p:txBody>
          <a:bodyPr/>
          <a:lstStyle/>
          <a:p>
            <a:r>
              <a:rPr lang="en-US"/>
              <a:t>Group 4:</a:t>
            </a:r>
          </a:p>
          <a:p>
            <a:r>
              <a:rPr lang="en-US"/>
              <a:t>Liliya Dimova, Brenda Hernandez Barragan, Cesar Lagos Davila, </a:t>
            </a:r>
            <a:r>
              <a:rPr lang="en-US" err="1"/>
              <a:t>Xuanzhi</a:t>
            </a:r>
            <a:r>
              <a:rPr lang="en-US"/>
              <a:t> Lu, Tien Nguyen, Zion Yates</a:t>
            </a:r>
          </a:p>
          <a:p>
            <a:endParaRPr lang="en-US"/>
          </a:p>
          <a:p>
            <a:endParaRPr lang="en-US"/>
          </a:p>
          <a:p>
            <a:endParaRPr lang="en-US"/>
          </a:p>
          <a:p>
            <a:endParaRPr lang="en-US"/>
          </a:p>
        </p:txBody>
      </p:sp>
    </p:spTree>
    <p:extLst>
      <p:ext uri="{BB962C8B-B14F-4D97-AF65-F5344CB8AC3E}">
        <p14:creationId xmlns:p14="http://schemas.microsoft.com/office/powerpoint/2010/main" val="358162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B19FD-3D88-701D-9D8C-6297D4B1F278}"/>
              </a:ext>
            </a:extLst>
          </p:cNvPr>
          <p:cNvSpPr>
            <a:spLocks noGrp="1"/>
          </p:cNvSpPr>
          <p:nvPr>
            <p:ph type="title"/>
          </p:nvPr>
        </p:nvSpPr>
        <p:spPr>
          <a:xfrm>
            <a:off x="137160" y="226210"/>
            <a:ext cx="11859768" cy="412115"/>
          </a:xfrm>
        </p:spPr>
        <p:txBody>
          <a:bodyPr>
            <a:noAutofit/>
          </a:bodyPr>
          <a:lstStyle/>
          <a:p>
            <a:r>
              <a:rPr lang="en-US" b="1">
                <a:latin typeface="+mn-lt"/>
              </a:rPr>
              <a:t>High number of </a:t>
            </a:r>
            <a:r>
              <a:rPr lang="en-US" b="1"/>
              <a:t>alcohol-related incidents in WA</a:t>
            </a:r>
            <a:endParaRPr lang="en-US" b="1">
              <a:latin typeface="+mn-lt"/>
            </a:endParaRPr>
          </a:p>
        </p:txBody>
      </p:sp>
      <p:pic>
        <p:nvPicPr>
          <p:cNvPr id="1026" name="Picture 2">
            <a:extLst>
              <a:ext uri="{FF2B5EF4-FFF2-40B4-BE49-F238E27FC236}">
                <a16:creationId xmlns:a16="http://schemas.microsoft.com/office/drawing/2014/main" id="{AA286B12-8714-5A52-CDBB-B7FCC12268D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9071" y="1528564"/>
            <a:ext cx="4524409" cy="27476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D125E39-4BB6-4EF1-9D7A-084B43232F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7315" y="1685400"/>
            <a:ext cx="4363579" cy="25908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21353F15-40AE-7B0C-A4EA-2D2476688DC1}"/>
              </a:ext>
            </a:extLst>
          </p:cNvPr>
          <p:cNvCxnSpPr/>
          <p:nvPr/>
        </p:nvCxnSpPr>
        <p:spPr>
          <a:xfrm>
            <a:off x="5081524" y="2765552"/>
            <a:ext cx="914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0FC0E8C-7674-5DD7-1B1C-AA0B8159F526}"/>
              </a:ext>
            </a:extLst>
          </p:cNvPr>
          <p:cNvSpPr txBox="1"/>
          <p:nvPr/>
        </p:nvSpPr>
        <p:spPr>
          <a:xfrm>
            <a:off x="4961382" y="812413"/>
            <a:ext cx="2069084" cy="584775"/>
          </a:xfrm>
          <a:prstGeom prst="rect">
            <a:avLst/>
          </a:prstGeom>
          <a:noFill/>
        </p:spPr>
        <p:txBody>
          <a:bodyPr wrap="square" rtlCol="0">
            <a:spAutoFit/>
          </a:bodyPr>
          <a:lstStyle/>
          <a:p>
            <a:r>
              <a:rPr lang="en-US" sz="3200" b="1"/>
              <a:t>In 2022</a:t>
            </a:r>
          </a:p>
        </p:txBody>
      </p:sp>
      <p:sp>
        <p:nvSpPr>
          <p:cNvPr id="7" name="TextBox 6">
            <a:extLst>
              <a:ext uri="{FF2B5EF4-FFF2-40B4-BE49-F238E27FC236}">
                <a16:creationId xmlns:a16="http://schemas.microsoft.com/office/drawing/2014/main" id="{AFF895BC-C9CD-FADE-C7B0-55395E442425}"/>
              </a:ext>
            </a:extLst>
          </p:cNvPr>
          <p:cNvSpPr txBox="1"/>
          <p:nvPr/>
        </p:nvSpPr>
        <p:spPr>
          <a:xfrm>
            <a:off x="557784" y="4407576"/>
            <a:ext cx="3534918" cy="1200329"/>
          </a:xfrm>
          <a:prstGeom prst="rect">
            <a:avLst/>
          </a:prstGeom>
          <a:noFill/>
        </p:spPr>
        <p:txBody>
          <a:bodyPr wrap="square" rtlCol="0">
            <a:spAutoFit/>
          </a:bodyPr>
          <a:lstStyle/>
          <a:p>
            <a:r>
              <a:rPr lang="en-US"/>
              <a:t>13,524 individuals lost their lives in motor vehicle crashes involving at least one alcohol-impaired driver- Result in 32%</a:t>
            </a:r>
          </a:p>
        </p:txBody>
      </p:sp>
      <p:sp>
        <p:nvSpPr>
          <p:cNvPr id="8" name="TextBox 7">
            <a:extLst>
              <a:ext uri="{FF2B5EF4-FFF2-40B4-BE49-F238E27FC236}">
                <a16:creationId xmlns:a16="http://schemas.microsoft.com/office/drawing/2014/main" id="{0FEE06F5-F9F8-DC13-1365-F1B1201146C3}"/>
              </a:ext>
            </a:extLst>
          </p:cNvPr>
          <p:cNvSpPr txBox="1"/>
          <p:nvPr/>
        </p:nvSpPr>
        <p:spPr>
          <a:xfrm>
            <a:off x="6721912" y="4407576"/>
            <a:ext cx="3834384" cy="646331"/>
          </a:xfrm>
          <a:prstGeom prst="rect">
            <a:avLst/>
          </a:prstGeom>
          <a:noFill/>
        </p:spPr>
        <p:txBody>
          <a:bodyPr wrap="square" rtlCol="0">
            <a:spAutoFit/>
          </a:bodyPr>
          <a:lstStyle/>
          <a:p>
            <a:r>
              <a:rPr lang="en-US"/>
              <a:t>3,402 deaths were attributed to alcohol-related incidents</a:t>
            </a:r>
          </a:p>
        </p:txBody>
      </p:sp>
    </p:spTree>
    <p:extLst>
      <p:ext uri="{BB962C8B-B14F-4D97-AF65-F5344CB8AC3E}">
        <p14:creationId xmlns:p14="http://schemas.microsoft.com/office/powerpoint/2010/main" val="3878565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9266-7692-97B8-75A1-EDC0592102D1}"/>
              </a:ext>
            </a:extLst>
          </p:cNvPr>
          <p:cNvSpPr>
            <a:spLocks noGrp="1"/>
          </p:cNvSpPr>
          <p:nvPr>
            <p:ph type="title"/>
          </p:nvPr>
        </p:nvSpPr>
        <p:spPr>
          <a:xfrm>
            <a:off x="154058" y="145669"/>
            <a:ext cx="10515600" cy="841883"/>
          </a:xfrm>
        </p:spPr>
        <p:txBody>
          <a:bodyPr>
            <a:normAutofit fontScale="90000"/>
          </a:bodyPr>
          <a:lstStyle/>
          <a:p>
            <a:r>
              <a:rPr lang="en-US" b="1"/>
              <a:t>Less strict in penalties compares to Canada</a:t>
            </a:r>
          </a:p>
        </p:txBody>
      </p:sp>
      <p:pic>
        <p:nvPicPr>
          <p:cNvPr id="4" name="Picture 4">
            <a:extLst>
              <a:ext uri="{FF2B5EF4-FFF2-40B4-BE49-F238E27FC236}">
                <a16:creationId xmlns:a16="http://schemas.microsoft.com/office/drawing/2014/main" id="{912689CA-77BF-0DA9-28D4-46E407885F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8539" y="1273365"/>
            <a:ext cx="4254581" cy="252615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FAF4312E-808D-5EF8-9ABF-B4A4F140D5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2960" y="987552"/>
            <a:ext cx="5925844" cy="29644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2BF598-27B0-EB27-564C-FB2BA46630BB}"/>
              </a:ext>
            </a:extLst>
          </p:cNvPr>
          <p:cNvSpPr txBox="1"/>
          <p:nvPr/>
        </p:nvSpPr>
        <p:spPr>
          <a:xfrm>
            <a:off x="154058" y="4222495"/>
            <a:ext cx="4798568" cy="1477328"/>
          </a:xfrm>
          <a:prstGeom prst="rect">
            <a:avLst/>
          </a:prstGeom>
          <a:noFill/>
        </p:spPr>
        <p:txBody>
          <a:bodyPr wrap="square" rtlCol="0">
            <a:spAutoFit/>
          </a:bodyPr>
          <a:lstStyle/>
          <a:p>
            <a:pPr marL="285750" indent="-285750">
              <a:buFont typeface="Arial" panose="020B0604020202020204" pitchFamily="34" charset="0"/>
              <a:buChar char="•"/>
            </a:pPr>
            <a:r>
              <a:rPr lang="en-US"/>
              <a:t>Fines from $350 to $5,000.</a:t>
            </a:r>
          </a:p>
          <a:p>
            <a:pPr marL="285750" indent="-285750">
              <a:buFont typeface="Arial" panose="020B0604020202020204" pitchFamily="34" charset="0"/>
              <a:buChar char="•"/>
            </a:pPr>
            <a:r>
              <a:rPr lang="en-US"/>
              <a:t>License Suspension will be suspended from 90 days to 4 years with potential jail time.</a:t>
            </a:r>
          </a:p>
          <a:p>
            <a:pPr marL="285750" indent="-285750">
              <a:buFont typeface="Arial" panose="020B0604020202020204" pitchFamily="34" charset="0"/>
              <a:buChar char="•"/>
            </a:pPr>
            <a:r>
              <a:rPr lang="en-US"/>
              <a:t>The conviction remains on a driving record for 7 years.</a:t>
            </a:r>
          </a:p>
        </p:txBody>
      </p:sp>
      <p:sp>
        <p:nvSpPr>
          <p:cNvPr id="6" name="TextBox 5">
            <a:extLst>
              <a:ext uri="{FF2B5EF4-FFF2-40B4-BE49-F238E27FC236}">
                <a16:creationId xmlns:a16="http://schemas.microsoft.com/office/drawing/2014/main" id="{B116294D-57C3-84D8-0B60-ADCD301A7A67}"/>
              </a:ext>
            </a:extLst>
          </p:cNvPr>
          <p:cNvSpPr txBox="1"/>
          <p:nvPr/>
        </p:nvSpPr>
        <p:spPr>
          <a:xfrm>
            <a:off x="5774570" y="4222495"/>
            <a:ext cx="4798568" cy="1477328"/>
          </a:xfrm>
          <a:prstGeom prst="rect">
            <a:avLst/>
          </a:prstGeom>
          <a:noFill/>
        </p:spPr>
        <p:txBody>
          <a:bodyPr wrap="square" rtlCol="0">
            <a:spAutoFit/>
          </a:bodyPr>
          <a:lstStyle/>
          <a:p>
            <a:pPr marL="285750" indent="-285750">
              <a:buFont typeface="Arial" panose="020B0604020202020204" pitchFamily="34" charset="0"/>
              <a:buChar char="•"/>
            </a:pPr>
            <a:r>
              <a:rPr lang="en-US"/>
              <a:t>Fines from $350 to $5,000.</a:t>
            </a:r>
          </a:p>
          <a:p>
            <a:pPr marL="285750" indent="-285750">
              <a:buFont typeface="Arial" panose="020B0604020202020204" pitchFamily="34" charset="0"/>
              <a:buChar char="•"/>
            </a:pPr>
            <a:r>
              <a:rPr lang="en-US"/>
              <a:t>A one-year license suspension for first-time offenders to 120 days in prison.</a:t>
            </a:r>
          </a:p>
          <a:p>
            <a:pPr marL="285750" indent="-285750">
              <a:buFont typeface="Arial" panose="020B0604020202020204" pitchFamily="34" charset="0"/>
              <a:buChar char="•"/>
            </a:pPr>
            <a:r>
              <a:rPr lang="en-US"/>
              <a:t>Potential permanent license revocation for repeat offenders</a:t>
            </a:r>
          </a:p>
        </p:txBody>
      </p:sp>
      <p:sp>
        <p:nvSpPr>
          <p:cNvPr id="7" name="TextBox 6">
            <a:extLst>
              <a:ext uri="{FF2B5EF4-FFF2-40B4-BE49-F238E27FC236}">
                <a16:creationId xmlns:a16="http://schemas.microsoft.com/office/drawing/2014/main" id="{D309CE44-0415-E061-5889-A64E13300F89}"/>
              </a:ext>
            </a:extLst>
          </p:cNvPr>
          <p:cNvSpPr txBox="1"/>
          <p:nvPr/>
        </p:nvSpPr>
        <p:spPr>
          <a:xfrm>
            <a:off x="1920240" y="6263640"/>
            <a:ext cx="9171432" cy="369332"/>
          </a:xfrm>
          <a:prstGeom prst="rect">
            <a:avLst/>
          </a:prstGeom>
          <a:noFill/>
        </p:spPr>
        <p:txBody>
          <a:bodyPr wrap="square" rtlCol="0">
            <a:spAutoFit/>
          </a:bodyPr>
          <a:lstStyle/>
          <a:p>
            <a:r>
              <a:rPr lang="en-US"/>
              <a:t>Similarity: The legal Blood Alcohol Concentration (BAC) limit for adults is set at 0.08%</a:t>
            </a:r>
          </a:p>
        </p:txBody>
      </p:sp>
    </p:spTree>
    <p:extLst>
      <p:ext uri="{BB962C8B-B14F-4D97-AF65-F5344CB8AC3E}">
        <p14:creationId xmlns:p14="http://schemas.microsoft.com/office/powerpoint/2010/main" val="1514533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2CE7D-39F7-C5F5-B4B2-9D5E4632016A}"/>
              </a:ext>
            </a:extLst>
          </p:cNvPr>
          <p:cNvSpPr>
            <a:spLocks noGrp="1"/>
          </p:cNvSpPr>
          <p:nvPr>
            <p:ph type="title"/>
          </p:nvPr>
        </p:nvSpPr>
        <p:spPr>
          <a:xfrm>
            <a:off x="262128" y="241807"/>
            <a:ext cx="10515600" cy="878459"/>
          </a:xfrm>
        </p:spPr>
        <p:txBody>
          <a:bodyPr>
            <a:normAutofit/>
          </a:bodyPr>
          <a:lstStyle/>
          <a:p>
            <a:r>
              <a:rPr lang="en-US" sz="4000" b="1"/>
              <a:t>Question to discuss</a:t>
            </a:r>
          </a:p>
        </p:txBody>
      </p:sp>
      <p:sp>
        <p:nvSpPr>
          <p:cNvPr id="3" name="Content Placeholder 2">
            <a:extLst>
              <a:ext uri="{FF2B5EF4-FFF2-40B4-BE49-F238E27FC236}">
                <a16:creationId xmlns:a16="http://schemas.microsoft.com/office/drawing/2014/main" id="{DFBF8268-85D4-B12E-4A5F-09CAF64813AA}"/>
              </a:ext>
            </a:extLst>
          </p:cNvPr>
          <p:cNvSpPr>
            <a:spLocks noGrp="1"/>
          </p:cNvSpPr>
          <p:nvPr>
            <p:ph idx="1"/>
          </p:nvPr>
        </p:nvSpPr>
        <p:spPr>
          <a:xfrm>
            <a:off x="399288" y="1377569"/>
            <a:ext cx="10515600" cy="4351338"/>
          </a:xfrm>
        </p:spPr>
        <p:txBody>
          <a:bodyPr/>
          <a:lstStyle/>
          <a:p>
            <a:pPr marL="514350" indent="-514350">
              <a:buAutoNum type="arabicPeriod"/>
            </a:pPr>
            <a:r>
              <a:rPr lang="en-US"/>
              <a:t>Does the threat of these specific consequences actually prevent a driver from reoffending? </a:t>
            </a:r>
          </a:p>
          <a:p>
            <a:pPr marL="514350" indent="-514350">
              <a:buAutoNum type="arabicPeriod"/>
            </a:pPr>
            <a:r>
              <a:rPr lang="en-US"/>
              <a:t>Should Washington consider lowering the 0.08% BAC threshold to increase public safety?</a:t>
            </a:r>
          </a:p>
        </p:txBody>
      </p:sp>
    </p:spTree>
    <p:extLst>
      <p:ext uri="{BB962C8B-B14F-4D97-AF65-F5344CB8AC3E}">
        <p14:creationId xmlns:p14="http://schemas.microsoft.com/office/powerpoint/2010/main" val="288300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0BE54-E919-FA19-F47A-81B0BFE9C578}"/>
              </a:ext>
            </a:extLst>
          </p:cNvPr>
          <p:cNvSpPr>
            <a:spLocks noGrp="1"/>
          </p:cNvSpPr>
          <p:nvPr>
            <p:ph type="title"/>
          </p:nvPr>
        </p:nvSpPr>
        <p:spPr>
          <a:xfrm>
            <a:off x="335280" y="191389"/>
            <a:ext cx="10515600" cy="768731"/>
          </a:xfrm>
        </p:spPr>
        <p:txBody>
          <a:bodyPr>
            <a:normAutofit/>
          </a:bodyPr>
          <a:lstStyle/>
          <a:p>
            <a:r>
              <a:rPr lang="en-US" sz="4000" b="1"/>
              <a:t>Survey Background</a:t>
            </a:r>
          </a:p>
        </p:txBody>
      </p:sp>
      <p:sp>
        <p:nvSpPr>
          <p:cNvPr id="3" name="Content Placeholder 2">
            <a:extLst>
              <a:ext uri="{FF2B5EF4-FFF2-40B4-BE49-F238E27FC236}">
                <a16:creationId xmlns:a16="http://schemas.microsoft.com/office/drawing/2014/main" id="{3CACDF08-6361-EC99-22D5-68B71BBFB7C4}"/>
              </a:ext>
            </a:extLst>
          </p:cNvPr>
          <p:cNvSpPr>
            <a:spLocks noGrp="1"/>
          </p:cNvSpPr>
          <p:nvPr>
            <p:ph idx="1"/>
          </p:nvPr>
        </p:nvSpPr>
        <p:spPr>
          <a:xfrm>
            <a:off x="335280" y="3134804"/>
            <a:ext cx="3212592" cy="449644"/>
          </a:xfrm>
        </p:spPr>
        <p:txBody>
          <a:bodyPr>
            <a:normAutofit/>
          </a:bodyPr>
          <a:lstStyle/>
          <a:p>
            <a:pPr marL="0" indent="0">
              <a:buNone/>
            </a:pPr>
            <a:r>
              <a:rPr lang="en-US" sz="2400"/>
              <a:t>214,558 observations. </a:t>
            </a:r>
          </a:p>
        </p:txBody>
      </p:sp>
      <p:cxnSp>
        <p:nvCxnSpPr>
          <p:cNvPr id="5" name="Straight Arrow Connector 4">
            <a:extLst>
              <a:ext uri="{FF2B5EF4-FFF2-40B4-BE49-F238E27FC236}">
                <a16:creationId xmlns:a16="http://schemas.microsoft.com/office/drawing/2014/main" id="{910E42A9-F23E-4287-854F-47F535E22B06}"/>
              </a:ext>
            </a:extLst>
          </p:cNvPr>
          <p:cNvCxnSpPr>
            <a:cxnSpLocks/>
          </p:cNvCxnSpPr>
          <p:nvPr/>
        </p:nvCxnSpPr>
        <p:spPr>
          <a:xfrm flipV="1">
            <a:off x="3547872" y="2692528"/>
            <a:ext cx="499872" cy="3970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5081AC2A-C853-5520-54A2-531D29AC8367}"/>
              </a:ext>
            </a:extLst>
          </p:cNvPr>
          <p:cNvCxnSpPr>
            <a:cxnSpLocks/>
          </p:cNvCxnSpPr>
          <p:nvPr/>
        </p:nvCxnSpPr>
        <p:spPr>
          <a:xfrm flipV="1">
            <a:off x="3613404" y="3125083"/>
            <a:ext cx="675132" cy="1593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9426AD0-C286-0777-8E59-60C4323CEC46}"/>
              </a:ext>
            </a:extLst>
          </p:cNvPr>
          <p:cNvCxnSpPr>
            <a:cxnSpLocks/>
          </p:cNvCxnSpPr>
          <p:nvPr/>
        </p:nvCxnSpPr>
        <p:spPr>
          <a:xfrm>
            <a:off x="3611880" y="3453003"/>
            <a:ext cx="697992" cy="215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7836A8A-50CA-8AFF-1820-ADBA3E134A57}"/>
              </a:ext>
            </a:extLst>
          </p:cNvPr>
          <p:cNvCxnSpPr>
            <a:cxnSpLocks/>
          </p:cNvCxnSpPr>
          <p:nvPr/>
        </p:nvCxnSpPr>
        <p:spPr>
          <a:xfrm>
            <a:off x="3575304" y="3584448"/>
            <a:ext cx="472440" cy="3840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1D7C763-64DD-B281-B4F9-BBB563EB469D}"/>
              </a:ext>
            </a:extLst>
          </p:cNvPr>
          <p:cNvSpPr txBox="1"/>
          <p:nvPr/>
        </p:nvSpPr>
        <p:spPr>
          <a:xfrm>
            <a:off x="702564" y="1295710"/>
            <a:ext cx="7360920" cy="369332"/>
          </a:xfrm>
          <a:prstGeom prst="rect">
            <a:avLst/>
          </a:prstGeom>
          <a:noFill/>
        </p:spPr>
        <p:txBody>
          <a:bodyPr wrap="square" rtlCol="0">
            <a:spAutoFit/>
          </a:bodyPr>
          <a:lstStyle/>
          <a:p>
            <a:r>
              <a:rPr lang="en-US"/>
              <a:t>Traffic stop observations was conducted in Washington State from 1999</a:t>
            </a:r>
          </a:p>
        </p:txBody>
      </p:sp>
      <p:sp>
        <p:nvSpPr>
          <p:cNvPr id="17" name="TextBox 16">
            <a:extLst>
              <a:ext uri="{FF2B5EF4-FFF2-40B4-BE49-F238E27FC236}">
                <a16:creationId xmlns:a16="http://schemas.microsoft.com/office/drawing/2014/main" id="{EF032215-B569-6161-DE2B-F845A1F10C31}"/>
              </a:ext>
            </a:extLst>
          </p:cNvPr>
          <p:cNvSpPr txBox="1"/>
          <p:nvPr/>
        </p:nvSpPr>
        <p:spPr>
          <a:xfrm>
            <a:off x="4178808" y="2426471"/>
            <a:ext cx="5971032" cy="646331"/>
          </a:xfrm>
          <a:prstGeom prst="rect">
            <a:avLst/>
          </a:prstGeom>
          <a:noFill/>
        </p:spPr>
        <p:txBody>
          <a:bodyPr wrap="square" rtlCol="0">
            <a:spAutoFit/>
          </a:bodyPr>
          <a:lstStyle/>
          <a:p>
            <a:r>
              <a:rPr lang="en-US"/>
              <a:t>BAC 1 and BAC2: with the smallest value is used to determine. </a:t>
            </a:r>
          </a:p>
        </p:txBody>
      </p:sp>
      <p:sp>
        <p:nvSpPr>
          <p:cNvPr id="18" name="TextBox 17">
            <a:extLst>
              <a:ext uri="{FF2B5EF4-FFF2-40B4-BE49-F238E27FC236}">
                <a16:creationId xmlns:a16="http://schemas.microsoft.com/office/drawing/2014/main" id="{46300B44-13BC-CD78-3291-1755CC765ACC}"/>
              </a:ext>
            </a:extLst>
          </p:cNvPr>
          <p:cNvSpPr txBox="1"/>
          <p:nvPr/>
        </p:nvSpPr>
        <p:spPr>
          <a:xfrm>
            <a:off x="4354068" y="2899885"/>
            <a:ext cx="5971032" cy="369332"/>
          </a:xfrm>
          <a:prstGeom prst="rect">
            <a:avLst/>
          </a:prstGeom>
          <a:noFill/>
        </p:spPr>
        <p:txBody>
          <a:bodyPr wrap="square" rtlCol="0">
            <a:spAutoFit/>
          </a:bodyPr>
          <a:lstStyle/>
          <a:p>
            <a:r>
              <a:rPr lang="en-US"/>
              <a:t>Accident indicators</a:t>
            </a:r>
          </a:p>
        </p:txBody>
      </p:sp>
      <p:sp>
        <p:nvSpPr>
          <p:cNvPr id="19" name="TextBox 18">
            <a:extLst>
              <a:ext uri="{FF2B5EF4-FFF2-40B4-BE49-F238E27FC236}">
                <a16:creationId xmlns:a16="http://schemas.microsoft.com/office/drawing/2014/main" id="{5AAEE62B-67E9-2B0E-D72C-3EA1A03E70E3}"/>
              </a:ext>
            </a:extLst>
          </p:cNvPr>
          <p:cNvSpPr txBox="1"/>
          <p:nvPr/>
        </p:nvSpPr>
        <p:spPr>
          <a:xfrm>
            <a:off x="4288536" y="3319035"/>
            <a:ext cx="5971032" cy="369332"/>
          </a:xfrm>
          <a:prstGeom prst="rect">
            <a:avLst/>
          </a:prstGeom>
          <a:noFill/>
        </p:spPr>
        <p:txBody>
          <a:bodyPr wrap="square" rtlCol="0">
            <a:spAutoFit/>
          </a:bodyPr>
          <a:lstStyle/>
          <a:p>
            <a:r>
              <a:rPr lang="en-US"/>
              <a:t>Demographic variables: sex, race, and age</a:t>
            </a:r>
          </a:p>
        </p:txBody>
      </p:sp>
      <p:sp>
        <p:nvSpPr>
          <p:cNvPr id="20" name="TextBox 19">
            <a:extLst>
              <a:ext uri="{FF2B5EF4-FFF2-40B4-BE49-F238E27FC236}">
                <a16:creationId xmlns:a16="http://schemas.microsoft.com/office/drawing/2014/main" id="{8E625689-59B3-EC4D-BB6A-DFECCF869ACC}"/>
              </a:ext>
            </a:extLst>
          </p:cNvPr>
          <p:cNvSpPr txBox="1"/>
          <p:nvPr/>
        </p:nvSpPr>
        <p:spPr>
          <a:xfrm>
            <a:off x="4047744" y="3763255"/>
            <a:ext cx="5971032" cy="923330"/>
          </a:xfrm>
          <a:prstGeom prst="rect">
            <a:avLst/>
          </a:prstGeom>
          <a:noFill/>
        </p:spPr>
        <p:txBody>
          <a:bodyPr wrap="square" rtlCol="0">
            <a:spAutoFit/>
          </a:bodyPr>
          <a:lstStyle/>
          <a:p>
            <a:r>
              <a:rPr lang="en-US"/>
              <a:t>Recidivism outcomes- a binary variable indicating whether the driver committed another DUI offense after the initial stop. </a:t>
            </a:r>
          </a:p>
        </p:txBody>
      </p:sp>
    </p:spTree>
    <p:extLst>
      <p:ext uri="{BB962C8B-B14F-4D97-AF65-F5344CB8AC3E}">
        <p14:creationId xmlns:p14="http://schemas.microsoft.com/office/powerpoint/2010/main" val="3708360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56EF8-48AB-1EB0-598C-B3E12610DEFE}"/>
              </a:ext>
            </a:extLst>
          </p:cNvPr>
          <p:cNvSpPr>
            <a:spLocks noGrp="1"/>
          </p:cNvSpPr>
          <p:nvPr>
            <p:ph type="title"/>
          </p:nvPr>
        </p:nvSpPr>
        <p:spPr>
          <a:xfrm>
            <a:off x="124968" y="155416"/>
            <a:ext cx="10515600" cy="662782"/>
          </a:xfrm>
        </p:spPr>
        <p:txBody>
          <a:bodyPr>
            <a:normAutofit/>
          </a:bodyPr>
          <a:lstStyle/>
          <a:p>
            <a:r>
              <a:rPr lang="en-US" sz="4000" b="1"/>
              <a:t>Regression discontinuity design validation</a:t>
            </a:r>
          </a:p>
        </p:txBody>
      </p:sp>
      <p:sp>
        <p:nvSpPr>
          <p:cNvPr id="3" name="Content Placeholder 2">
            <a:extLst>
              <a:ext uri="{FF2B5EF4-FFF2-40B4-BE49-F238E27FC236}">
                <a16:creationId xmlns:a16="http://schemas.microsoft.com/office/drawing/2014/main" id="{63FB6D0B-55A2-8142-321C-65CD33BDADC1}"/>
              </a:ext>
            </a:extLst>
          </p:cNvPr>
          <p:cNvSpPr>
            <a:spLocks noGrp="1"/>
          </p:cNvSpPr>
          <p:nvPr>
            <p:ph idx="1"/>
          </p:nvPr>
        </p:nvSpPr>
        <p:spPr>
          <a:xfrm>
            <a:off x="196596" y="951578"/>
            <a:ext cx="11798808" cy="5622990"/>
          </a:xfrm>
        </p:spPr>
        <p:txBody>
          <a:bodyPr>
            <a:normAutofit/>
          </a:bodyPr>
          <a:lstStyle/>
          <a:p>
            <a:r>
              <a:rPr lang="en-US" sz="1800" u="sng"/>
              <a:t>Purpose</a:t>
            </a:r>
            <a:r>
              <a:rPr lang="en-US" sz="1800"/>
              <a:t>: To estimate the effect of harsher DUI punishment on future recidivism</a:t>
            </a:r>
          </a:p>
          <a:p>
            <a:r>
              <a:rPr lang="en-US" sz="1800" u="sng"/>
              <a:t>Why this model? </a:t>
            </a:r>
          </a:p>
          <a:p>
            <a:pPr lvl="1"/>
            <a:r>
              <a:rPr lang="en-US" sz="1800"/>
              <a:t>This method is appropriate because Washington State applies stricter punishment once a driver’s blood alcohol concentration (BAC) reaches the legal cutoff of 0.08</a:t>
            </a:r>
          </a:p>
          <a:p>
            <a:pPr lvl="1"/>
            <a:r>
              <a:rPr lang="en-US" sz="1800"/>
              <a:t>punishment changes sharply at this threshold, drivers just below and just above the cutoff can be compared to estimate the causal effect of punishment on future DUI behavior. </a:t>
            </a:r>
          </a:p>
          <a:p>
            <a:r>
              <a:rPr lang="en-US" sz="1800" u="sng"/>
              <a:t>Assumption</a:t>
            </a:r>
            <a:r>
              <a:rPr lang="en-US" sz="1800"/>
              <a:t>:  drivers cannot precisely manipulate their BAC around the legal threshold.</a:t>
            </a:r>
            <a:r>
              <a:rPr lang="en-US"/>
              <a:t> </a:t>
            </a:r>
            <a:r>
              <a:rPr lang="en-US" sz="1800"/>
              <a:t>Drivers near the cutoff should be very similar in all respects except for the punishment they receive.</a:t>
            </a:r>
          </a:p>
          <a:p>
            <a:r>
              <a:rPr lang="en-US" sz="1800" u="sng"/>
              <a:t>RDD model validation</a:t>
            </a:r>
            <a:r>
              <a:rPr lang="en-US" sz="1800"/>
              <a:t>: A balance test was performed to validate that the application of the punishment is the only variable that jumps at the cutoff of 0.08 BAC</a:t>
            </a:r>
          </a:p>
          <a:p>
            <a:pPr lvl="1"/>
            <a:r>
              <a:rPr lang="en-US" sz="1800"/>
              <a:t>None of the variables were significant. This demonstrates that none of these variables differ at the cutoff, providing validity to our model.</a:t>
            </a:r>
          </a:p>
          <a:p>
            <a:endParaRPr lang="en-US" sz="1800"/>
          </a:p>
        </p:txBody>
      </p:sp>
      <p:graphicFrame>
        <p:nvGraphicFramePr>
          <p:cNvPr id="4" name="Table 3">
            <a:extLst>
              <a:ext uri="{FF2B5EF4-FFF2-40B4-BE49-F238E27FC236}">
                <a16:creationId xmlns:a16="http://schemas.microsoft.com/office/drawing/2014/main" id="{D28A6770-D42D-C3A9-6E44-76979FE5ED84}"/>
              </a:ext>
            </a:extLst>
          </p:cNvPr>
          <p:cNvGraphicFramePr>
            <a:graphicFrameLocks noGrp="1"/>
          </p:cNvGraphicFramePr>
          <p:nvPr>
            <p:extLst>
              <p:ext uri="{D42A27DB-BD31-4B8C-83A1-F6EECF244321}">
                <p14:modId xmlns:p14="http://schemas.microsoft.com/office/powerpoint/2010/main" val="2155674820"/>
              </p:ext>
            </p:extLst>
          </p:nvPr>
        </p:nvGraphicFramePr>
        <p:xfrm>
          <a:off x="2238089" y="4789696"/>
          <a:ext cx="7386637" cy="1977420"/>
        </p:xfrm>
        <a:graphic>
          <a:graphicData uri="http://schemas.openxmlformats.org/drawingml/2006/table">
            <a:tbl>
              <a:tblPr/>
              <a:tblGrid>
                <a:gridCol w="1962236">
                  <a:extLst>
                    <a:ext uri="{9D8B030D-6E8A-4147-A177-3AD203B41FA5}">
                      <a16:colId xmlns:a16="http://schemas.microsoft.com/office/drawing/2014/main" val="3681486914"/>
                    </a:ext>
                  </a:extLst>
                </a:gridCol>
                <a:gridCol w="1838954">
                  <a:extLst>
                    <a:ext uri="{9D8B030D-6E8A-4147-A177-3AD203B41FA5}">
                      <a16:colId xmlns:a16="http://schemas.microsoft.com/office/drawing/2014/main" val="3612835867"/>
                    </a:ext>
                  </a:extLst>
                </a:gridCol>
                <a:gridCol w="1746493">
                  <a:extLst>
                    <a:ext uri="{9D8B030D-6E8A-4147-A177-3AD203B41FA5}">
                      <a16:colId xmlns:a16="http://schemas.microsoft.com/office/drawing/2014/main" val="1038032228"/>
                    </a:ext>
                  </a:extLst>
                </a:gridCol>
                <a:gridCol w="1838954">
                  <a:extLst>
                    <a:ext uri="{9D8B030D-6E8A-4147-A177-3AD203B41FA5}">
                      <a16:colId xmlns:a16="http://schemas.microsoft.com/office/drawing/2014/main" val="424496574"/>
                    </a:ext>
                  </a:extLst>
                </a:gridCol>
              </a:tblGrid>
              <a:tr h="329570">
                <a:tc>
                  <a:txBody>
                    <a:bodyPr/>
                    <a:lstStyle/>
                    <a:p>
                      <a:pPr algn="l" rtl="0" fontAlgn="base">
                        <a:lnSpc>
                          <a:spcPts val="1569"/>
                        </a:lnSpc>
                        <a:spcAft>
                          <a:spcPts val="800"/>
                        </a:spcAft>
                        <a:buNone/>
                      </a:pPr>
                      <a:r>
                        <a:rPr lang="en-US" sz="1200" b="0" i="0">
                          <a:effectLst/>
                          <a:latin typeface="Aptos" panose="020B0004020202020204" pitchFamily="34" charset="0"/>
                        </a:rPr>
                        <a:t> </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569"/>
                        </a:lnSpc>
                        <a:buNone/>
                      </a:pPr>
                      <a:r>
                        <a:rPr lang="en-US" sz="1200" b="1" i="0">
                          <a:effectLst/>
                          <a:latin typeface="Aptos" panose="020B0004020202020204" pitchFamily="34" charset="0"/>
                        </a:rPr>
                        <a:t>Accident</a:t>
                      </a:r>
                      <a:r>
                        <a:rPr lang="en-US" sz="1200" b="0" i="0">
                          <a:effectLst/>
                          <a:latin typeface="Aptos" panose="020B0004020202020204" pitchFamily="34" charset="0"/>
                        </a:rPr>
                        <a:t>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569"/>
                        </a:lnSpc>
                        <a:buNone/>
                      </a:pPr>
                      <a:r>
                        <a:rPr lang="en-US" sz="1200" b="1" i="0">
                          <a:effectLst/>
                          <a:latin typeface="Aptos" panose="020B0004020202020204" pitchFamily="34" charset="0"/>
                        </a:rPr>
                        <a:t>Male</a:t>
                      </a:r>
                      <a:r>
                        <a:rPr lang="en-US" sz="1200" b="0" i="0">
                          <a:effectLst/>
                          <a:latin typeface="Aptos" panose="020B0004020202020204" pitchFamily="34" charset="0"/>
                        </a:rPr>
                        <a:t>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569"/>
                        </a:lnSpc>
                        <a:buNone/>
                      </a:pPr>
                      <a:r>
                        <a:rPr lang="en-US" sz="1200" b="1" i="0">
                          <a:effectLst/>
                          <a:latin typeface="Aptos" panose="020B0004020202020204" pitchFamily="34" charset="0"/>
                        </a:rPr>
                        <a:t>White</a:t>
                      </a:r>
                      <a:r>
                        <a:rPr lang="en-US" sz="1200" b="0" i="0">
                          <a:effectLst/>
                          <a:latin typeface="Aptos" panose="020B0004020202020204" pitchFamily="34" charset="0"/>
                        </a:rPr>
                        <a:t>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3749134"/>
                  </a:ext>
                </a:extLst>
              </a:tr>
              <a:tr h="329570">
                <a:tc>
                  <a:txBody>
                    <a:bodyPr/>
                    <a:lstStyle/>
                    <a:p>
                      <a:pPr algn="l" rtl="0" fontAlgn="base">
                        <a:lnSpc>
                          <a:spcPts val="1569"/>
                        </a:lnSpc>
                        <a:buNone/>
                      </a:pPr>
                      <a:r>
                        <a:rPr lang="en-US" sz="1200" b="0" i="0">
                          <a:effectLst/>
                          <a:latin typeface="Aptos" panose="020B0004020202020204" pitchFamily="34" charset="0"/>
                        </a:rPr>
                        <a:t>Constant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0.0761***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0.7914***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0.8494***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4133595"/>
                  </a:ext>
                </a:extLst>
              </a:tr>
              <a:tr h="329570">
                <a:tc>
                  <a:txBody>
                    <a:bodyPr/>
                    <a:lstStyle/>
                    <a:p>
                      <a:pPr algn="l" rtl="0" fontAlgn="base">
                        <a:lnSpc>
                          <a:spcPts val="1569"/>
                        </a:lnSpc>
                        <a:buNone/>
                      </a:pPr>
                      <a:r>
                        <a:rPr lang="en-US" sz="1200" b="0" i="0">
                          <a:effectLst/>
                          <a:latin typeface="Aptos" panose="020B0004020202020204" pitchFamily="34" charset="0"/>
                        </a:rPr>
                        <a:t>Punishment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-0.0037 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0.0057 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0.0021 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98070"/>
                  </a:ext>
                </a:extLst>
              </a:tr>
              <a:tr h="329570">
                <a:tc>
                  <a:txBody>
                    <a:bodyPr/>
                    <a:lstStyle/>
                    <a:p>
                      <a:pPr algn="l" rtl="0" fontAlgn="base">
                        <a:lnSpc>
                          <a:spcPts val="1569"/>
                        </a:lnSpc>
                        <a:buNone/>
                      </a:pPr>
                      <a:r>
                        <a:rPr lang="en-US" sz="1200" b="0" i="0">
                          <a:effectLst/>
                          <a:latin typeface="Aptos" panose="020B0004020202020204" pitchFamily="34" charset="0"/>
                        </a:rPr>
                        <a:t>BAC Centered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-1.545***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0.2097 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0.1850 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2836001"/>
                  </a:ext>
                </a:extLst>
              </a:tr>
              <a:tr h="329570">
                <a:tc>
                  <a:txBody>
                    <a:bodyPr/>
                    <a:lstStyle/>
                    <a:p>
                      <a:pPr algn="l" rtl="0" fontAlgn="base">
                        <a:lnSpc>
                          <a:spcPts val="1569"/>
                        </a:lnSpc>
                        <a:buNone/>
                      </a:pPr>
                      <a:r>
                        <a:rPr lang="en-US" sz="1200" b="0" i="0">
                          <a:effectLst/>
                          <a:latin typeface="Aptos" panose="020B0004020202020204" pitchFamily="34" charset="0"/>
                        </a:rPr>
                        <a:t>Punishment × BAC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2.674***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-0.3119**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-0.0101 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6609459"/>
                  </a:ext>
                </a:extLst>
              </a:tr>
              <a:tr h="329570">
                <a:tc>
                  <a:txBody>
                    <a:bodyPr/>
                    <a:lstStyle/>
                    <a:p>
                      <a:pPr algn="l" rtl="0" fontAlgn="base">
                        <a:lnSpc>
                          <a:spcPts val="1569"/>
                        </a:lnSpc>
                        <a:buNone/>
                      </a:pPr>
                      <a:r>
                        <a:rPr lang="en-US" sz="1200" b="0" i="0">
                          <a:effectLst/>
                          <a:latin typeface="Aptos" panose="020B0004020202020204" pitchFamily="34" charset="0"/>
                        </a:rPr>
                        <a:t>Observations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214,558 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214,558 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569"/>
                        </a:lnSpc>
                        <a:buNone/>
                      </a:pPr>
                      <a:r>
                        <a:rPr lang="en-US" sz="1200" b="0" i="0">
                          <a:effectLst/>
                          <a:latin typeface="Aptos" panose="020B0004020202020204" pitchFamily="34" charset="0"/>
                        </a:rPr>
                        <a:t>214,558 </a:t>
                      </a:r>
                      <a:endParaRPr lang="en-US" b="0" i="0">
                        <a:effectLst/>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6461714"/>
                  </a:ext>
                </a:extLst>
              </a:tr>
            </a:tbl>
          </a:graphicData>
        </a:graphic>
      </p:graphicFrame>
    </p:spTree>
    <p:extLst>
      <p:ext uri="{BB962C8B-B14F-4D97-AF65-F5344CB8AC3E}">
        <p14:creationId xmlns:p14="http://schemas.microsoft.com/office/powerpoint/2010/main" val="2073362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E5843-4A23-2F78-F8E0-A8DA70ED968D}"/>
              </a:ext>
            </a:extLst>
          </p:cNvPr>
          <p:cNvSpPr>
            <a:spLocks noGrp="1"/>
          </p:cNvSpPr>
          <p:nvPr>
            <p:ph type="title"/>
          </p:nvPr>
        </p:nvSpPr>
        <p:spPr>
          <a:xfrm>
            <a:off x="188976" y="145670"/>
            <a:ext cx="10515600" cy="535368"/>
          </a:xfrm>
        </p:spPr>
        <p:txBody>
          <a:bodyPr>
            <a:normAutofit fontScale="90000"/>
          </a:bodyPr>
          <a:lstStyle/>
          <a:p>
            <a:r>
              <a:rPr lang="en-US" sz="4000" b="1"/>
              <a:t>Introduction to RDD Components</a:t>
            </a:r>
          </a:p>
        </p:txBody>
      </p:sp>
      <p:sp>
        <p:nvSpPr>
          <p:cNvPr id="3" name="Content Placeholder 2">
            <a:extLst>
              <a:ext uri="{FF2B5EF4-FFF2-40B4-BE49-F238E27FC236}">
                <a16:creationId xmlns:a16="http://schemas.microsoft.com/office/drawing/2014/main" id="{6B3E5B39-ED28-958A-9B3C-0D531A880AB0}"/>
              </a:ext>
            </a:extLst>
          </p:cNvPr>
          <p:cNvSpPr>
            <a:spLocks noGrp="1"/>
          </p:cNvSpPr>
          <p:nvPr>
            <p:ph idx="1"/>
          </p:nvPr>
        </p:nvSpPr>
        <p:spPr>
          <a:xfrm>
            <a:off x="201168" y="918463"/>
            <a:ext cx="11789664" cy="2830577"/>
          </a:xfrm>
        </p:spPr>
        <p:txBody>
          <a:bodyPr>
            <a:normAutofit/>
          </a:bodyPr>
          <a:lstStyle/>
          <a:p>
            <a:pPr marL="514350" indent="-514350">
              <a:buFont typeface="+mj-lt"/>
              <a:buAutoNum type="arabicPeriod"/>
            </a:pPr>
            <a:r>
              <a:rPr lang="en-US" sz="1800"/>
              <a:t>Running Variable: We construct the running variable by taking </a:t>
            </a:r>
            <a:r>
              <a:rPr lang="en-US" sz="1800" b="1">
                <a:solidFill>
                  <a:schemeClr val="accent1">
                    <a:lumMod val="60000"/>
                    <a:lumOff val="40000"/>
                  </a:schemeClr>
                </a:solidFill>
              </a:rPr>
              <a:t>the minimum of bac1 and bac2 </a:t>
            </a:r>
            <a:r>
              <a:rPr lang="en-US" sz="1800"/>
              <a:t>for each observation. We then center this variable at the legal threshold of 0.08, creating </a:t>
            </a:r>
            <a:r>
              <a:rPr lang="en-US" sz="1800" err="1"/>
              <a:t>bac_centered</a:t>
            </a:r>
            <a:r>
              <a:rPr lang="en-US" sz="1800"/>
              <a:t>. </a:t>
            </a:r>
          </a:p>
          <a:p>
            <a:pPr marL="514350" indent="-514350">
              <a:buFont typeface="+mj-lt"/>
              <a:buAutoNum type="arabicPeriod"/>
            </a:pPr>
            <a:r>
              <a:rPr lang="en-US" sz="1800"/>
              <a:t>Treatment assignment: a binary variable indicating whether the BAC value crosses the legal threshold. If BAC ≥ 0.08, the variable takes the value 1, indicating that the stricter DUI punishment is triggered. </a:t>
            </a:r>
          </a:p>
          <a:p>
            <a:pPr marL="514350" indent="-514350">
              <a:buFont typeface="+mj-lt"/>
              <a:buAutoNum type="arabicPeriod"/>
            </a:pPr>
            <a:r>
              <a:rPr lang="en-US" sz="1800"/>
              <a:t>Bandwidth and Bin Size: </a:t>
            </a:r>
          </a:p>
          <a:p>
            <a:pPr lvl="1"/>
            <a:r>
              <a:rPr lang="en-US" sz="1800" b="1">
                <a:solidFill>
                  <a:schemeClr val="accent1">
                    <a:lumMod val="60000"/>
                    <a:lumOff val="40000"/>
                  </a:schemeClr>
                </a:solidFill>
              </a:rPr>
              <a:t>A ±0.05 window </a:t>
            </a:r>
            <a:r>
              <a:rPr lang="en-US" sz="1800"/>
              <a:t>around the cutoff was selected to focus on observations that are most comparable to the legal threshold.</a:t>
            </a:r>
          </a:p>
          <a:p>
            <a:pPr lvl="1"/>
            <a:r>
              <a:rPr lang="en-US" sz="1800" b="1">
                <a:solidFill>
                  <a:schemeClr val="accent1">
                    <a:lumMod val="60000"/>
                    <a:lumOff val="40000"/>
                  </a:schemeClr>
                </a:solidFill>
              </a:rPr>
              <a:t>Bin size of 0.001 </a:t>
            </a:r>
            <a:r>
              <a:rPr lang="en-US" sz="1800"/>
              <a:t>was used, which generated a smoother distribution. </a:t>
            </a:r>
          </a:p>
        </p:txBody>
      </p:sp>
      <p:pic>
        <p:nvPicPr>
          <p:cNvPr id="4100" name="Picture 4">
            <a:extLst>
              <a:ext uri="{FF2B5EF4-FFF2-40B4-BE49-F238E27FC236}">
                <a16:creationId xmlns:a16="http://schemas.microsoft.com/office/drawing/2014/main" id="{E649A672-8F51-308F-E2EC-B565811F6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6093" y="3986465"/>
            <a:ext cx="3762375" cy="26955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CAE0D70-BA81-F0D5-20E9-56303B607D2F}"/>
              </a:ext>
            </a:extLst>
          </p:cNvPr>
          <p:cNvSpPr txBox="1"/>
          <p:nvPr/>
        </p:nvSpPr>
        <p:spPr>
          <a:xfrm>
            <a:off x="271272" y="3564374"/>
            <a:ext cx="11719560" cy="369332"/>
          </a:xfrm>
          <a:prstGeom prst="rect">
            <a:avLst/>
          </a:prstGeom>
          <a:noFill/>
        </p:spPr>
        <p:txBody>
          <a:bodyPr wrap="square" rtlCol="0">
            <a:spAutoFit/>
          </a:bodyPr>
          <a:lstStyle/>
          <a:p>
            <a:r>
              <a:rPr lang="en-US" b="1"/>
              <a:t>Equation: Recidivism = β0 + β1 (Punishment) + β2 (BAC centered) + β3 (Acc) + β4 (Punishment × BAC centered)</a:t>
            </a:r>
          </a:p>
        </p:txBody>
      </p:sp>
    </p:spTree>
    <p:extLst>
      <p:ext uri="{BB962C8B-B14F-4D97-AF65-F5344CB8AC3E}">
        <p14:creationId xmlns:p14="http://schemas.microsoft.com/office/powerpoint/2010/main" val="2474664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98FBC-A2BE-4F74-1077-004E50B8852F}"/>
              </a:ext>
            </a:extLst>
          </p:cNvPr>
          <p:cNvSpPr>
            <a:spLocks noGrp="1"/>
          </p:cNvSpPr>
          <p:nvPr>
            <p:ph type="title"/>
          </p:nvPr>
        </p:nvSpPr>
        <p:spPr>
          <a:xfrm>
            <a:off x="70104" y="8509"/>
            <a:ext cx="10515600" cy="686435"/>
          </a:xfrm>
        </p:spPr>
        <p:txBody>
          <a:bodyPr>
            <a:normAutofit/>
          </a:bodyPr>
          <a:lstStyle/>
          <a:p>
            <a:r>
              <a:rPr lang="en-US" sz="4000" b="1"/>
              <a:t>Graphical Evidence</a:t>
            </a:r>
          </a:p>
        </p:txBody>
      </p:sp>
      <p:pic>
        <p:nvPicPr>
          <p:cNvPr id="5122" name="Picture 2">
            <a:extLst>
              <a:ext uri="{FF2B5EF4-FFF2-40B4-BE49-F238E27FC236}">
                <a16:creationId xmlns:a16="http://schemas.microsoft.com/office/drawing/2014/main" id="{7F4949E0-9F40-D467-8FE5-3D33C4625B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937" y="543614"/>
            <a:ext cx="4800597" cy="37172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189BCDB7-F542-C028-17DD-5898A1F15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4430" y="543614"/>
            <a:ext cx="5033896" cy="380205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640384C9-1E63-E619-00F0-D468644A07FC}"/>
              </a:ext>
            </a:extLst>
          </p:cNvPr>
          <p:cNvCxnSpPr/>
          <p:nvPr/>
        </p:nvCxnSpPr>
        <p:spPr>
          <a:xfrm>
            <a:off x="6245352" y="351726"/>
            <a:ext cx="0" cy="6332538"/>
          </a:xfrm>
          <a:prstGeom prst="line">
            <a:avLst/>
          </a:prstGeom>
          <a:ln w="38100"/>
        </p:spPr>
        <p:style>
          <a:lnRef idx="2">
            <a:schemeClr val="accent3"/>
          </a:lnRef>
          <a:fillRef idx="0">
            <a:schemeClr val="accent3"/>
          </a:fillRef>
          <a:effectRef idx="1">
            <a:schemeClr val="accent3"/>
          </a:effectRef>
          <a:fontRef idx="minor">
            <a:schemeClr val="tx1"/>
          </a:fontRef>
        </p:style>
      </p:cxnSp>
      <p:sp>
        <p:nvSpPr>
          <p:cNvPr id="6" name="TextBox 5">
            <a:extLst>
              <a:ext uri="{FF2B5EF4-FFF2-40B4-BE49-F238E27FC236}">
                <a16:creationId xmlns:a16="http://schemas.microsoft.com/office/drawing/2014/main" id="{0BB5907A-B7BB-E1A1-9FAE-879BCDD643AF}"/>
              </a:ext>
            </a:extLst>
          </p:cNvPr>
          <p:cNvSpPr txBox="1"/>
          <p:nvPr/>
        </p:nvSpPr>
        <p:spPr>
          <a:xfrm>
            <a:off x="70104" y="4382104"/>
            <a:ext cx="6175246" cy="2031325"/>
          </a:xfrm>
          <a:prstGeom prst="rect">
            <a:avLst/>
          </a:prstGeom>
          <a:noFill/>
        </p:spPr>
        <p:txBody>
          <a:bodyPr wrap="square" rtlCol="0">
            <a:spAutoFit/>
          </a:bodyPr>
          <a:lstStyle/>
          <a:p>
            <a:pPr marL="285750" indent="-285750">
              <a:buFont typeface="Arial" panose="020B0604020202020204" pitchFamily="34" charset="0"/>
              <a:buChar char="•"/>
            </a:pPr>
            <a:r>
              <a:rPr lang="en-US"/>
              <a:t>The distribution of BAC values around the legal cutoff at 0.08. </a:t>
            </a:r>
          </a:p>
          <a:p>
            <a:pPr marL="285750" indent="-285750">
              <a:buFont typeface="Arial" panose="020B0604020202020204" pitchFamily="34" charset="0"/>
              <a:buChar char="•"/>
            </a:pPr>
            <a:r>
              <a:rPr lang="en-US"/>
              <a:t>The vertical dashed red line marks the threshold where stricter punishment begins</a:t>
            </a:r>
          </a:p>
          <a:p>
            <a:endParaRPr lang="en-US"/>
          </a:p>
          <a:p>
            <a:r>
              <a:rPr lang="en-US">
                <a:sym typeface="Wingdings" panose="05000000000000000000" pitchFamily="2" charset="2"/>
              </a:rPr>
              <a:t></a:t>
            </a:r>
            <a:r>
              <a:rPr lang="en-US"/>
              <a:t>This suggests that drivers are not manipulating their BAC levels to avoid crossing the legal limit</a:t>
            </a:r>
          </a:p>
        </p:txBody>
      </p:sp>
      <p:sp>
        <p:nvSpPr>
          <p:cNvPr id="8" name="TextBox 7">
            <a:extLst>
              <a:ext uri="{FF2B5EF4-FFF2-40B4-BE49-F238E27FC236}">
                <a16:creationId xmlns:a16="http://schemas.microsoft.com/office/drawing/2014/main" id="{EB67B762-47F9-9597-F7C5-01E322910127}"/>
              </a:ext>
            </a:extLst>
          </p:cNvPr>
          <p:cNvSpPr txBox="1"/>
          <p:nvPr/>
        </p:nvSpPr>
        <p:spPr>
          <a:xfrm>
            <a:off x="6245350" y="4382103"/>
            <a:ext cx="5946650" cy="2031325"/>
          </a:xfrm>
          <a:prstGeom prst="rect">
            <a:avLst/>
          </a:prstGeom>
          <a:noFill/>
        </p:spPr>
        <p:txBody>
          <a:bodyPr wrap="square" rtlCol="0">
            <a:spAutoFit/>
          </a:bodyPr>
          <a:lstStyle/>
          <a:p>
            <a:pPr marL="285750" indent="-285750">
              <a:buFont typeface="Arial" panose="020B0604020202020204" pitchFamily="34" charset="0"/>
              <a:buChar char="•"/>
            </a:pPr>
            <a:r>
              <a:rPr lang="en-US"/>
              <a:t>The relationship between BAC levels and the probability of recidivism</a:t>
            </a:r>
          </a:p>
          <a:p>
            <a:pPr marL="285750" indent="-285750">
              <a:buFont typeface="Arial" panose="020B0604020202020204" pitchFamily="34" charset="0"/>
              <a:buChar char="•"/>
            </a:pPr>
            <a:r>
              <a:rPr lang="en-US"/>
              <a:t>The vertical dashed line marks the legal cutoff at BAC = 0.08. </a:t>
            </a:r>
          </a:p>
          <a:p>
            <a:r>
              <a:rPr lang="en-US">
                <a:sym typeface="Wingdings" panose="05000000000000000000" pitchFamily="2" charset="2"/>
              </a:rPr>
              <a:t></a:t>
            </a:r>
            <a:r>
              <a:rPr lang="en-US"/>
              <a:t>A visible drop in recidivism occurs just after the cutoff, suggesting that stricter punishment may reduce the probability of future DUI offenses. </a:t>
            </a:r>
          </a:p>
        </p:txBody>
      </p:sp>
    </p:spTree>
    <p:extLst>
      <p:ext uri="{BB962C8B-B14F-4D97-AF65-F5344CB8AC3E}">
        <p14:creationId xmlns:p14="http://schemas.microsoft.com/office/powerpoint/2010/main" val="1378190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D613D-AB86-5F37-F3B8-888DFDF877F0}"/>
              </a:ext>
            </a:extLst>
          </p:cNvPr>
          <p:cNvSpPr>
            <a:spLocks noGrp="1"/>
          </p:cNvSpPr>
          <p:nvPr>
            <p:ph type="title"/>
          </p:nvPr>
        </p:nvSpPr>
        <p:spPr>
          <a:xfrm>
            <a:off x="73152" y="0"/>
            <a:ext cx="10515600" cy="750443"/>
          </a:xfrm>
        </p:spPr>
        <p:txBody>
          <a:bodyPr>
            <a:normAutofit/>
          </a:bodyPr>
          <a:lstStyle/>
          <a:p>
            <a:r>
              <a:rPr lang="en-US" sz="4000" b="1">
                <a:latin typeface="+mn-lt"/>
              </a:rPr>
              <a:t>Regression Model Output</a:t>
            </a:r>
          </a:p>
        </p:txBody>
      </p:sp>
      <p:graphicFrame>
        <p:nvGraphicFramePr>
          <p:cNvPr id="4" name="Table 3">
            <a:extLst>
              <a:ext uri="{FF2B5EF4-FFF2-40B4-BE49-F238E27FC236}">
                <a16:creationId xmlns:a16="http://schemas.microsoft.com/office/drawing/2014/main" id="{355CE7F1-A8E0-0453-804A-176C8C1621EC}"/>
              </a:ext>
            </a:extLst>
          </p:cNvPr>
          <p:cNvGraphicFramePr>
            <a:graphicFrameLocks noGrp="1"/>
          </p:cNvGraphicFramePr>
          <p:nvPr>
            <p:extLst>
              <p:ext uri="{D42A27DB-BD31-4B8C-83A1-F6EECF244321}">
                <p14:modId xmlns:p14="http://schemas.microsoft.com/office/powerpoint/2010/main" val="167789861"/>
              </p:ext>
            </p:extLst>
          </p:nvPr>
        </p:nvGraphicFramePr>
        <p:xfrm>
          <a:off x="449580" y="750443"/>
          <a:ext cx="11490959" cy="1994692"/>
        </p:xfrm>
        <a:graphic>
          <a:graphicData uri="http://schemas.openxmlformats.org/drawingml/2006/table">
            <a:tbl>
              <a:tblPr/>
              <a:tblGrid>
                <a:gridCol w="3763653">
                  <a:extLst>
                    <a:ext uri="{9D8B030D-6E8A-4147-A177-3AD203B41FA5}">
                      <a16:colId xmlns:a16="http://schemas.microsoft.com/office/drawing/2014/main" val="2114331211"/>
                    </a:ext>
                  </a:extLst>
                </a:gridCol>
                <a:gridCol w="1581825">
                  <a:extLst>
                    <a:ext uri="{9D8B030D-6E8A-4147-A177-3AD203B41FA5}">
                      <a16:colId xmlns:a16="http://schemas.microsoft.com/office/drawing/2014/main" val="2026550150"/>
                    </a:ext>
                  </a:extLst>
                </a:gridCol>
                <a:gridCol w="1581825">
                  <a:extLst>
                    <a:ext uri="{9D8B030D-6E8A-4147-A177-3AD203B41FA5}">
                      <a16:colId xmlns:a16="http://schemas.microsoft.com/office/drawing/2014/main" val="629437272"/>
                    </a:ext>
                  </a:extLst>
                </a:gridCol>
                <a:gridCol w="1418187">
                  <a:extLst>
                    <a:ext uri="{9D8B030D-6E8A-4147-A177-3AD203B41FA5}">
                      <a16:colId xmlns:a16="http://schemas.microsoft.com/office/drawing/2014/main" val="3592417991"/>
                    </a:ext>
                  </a:extLst>
                </a:gridCol>
                <a:gridCol w="1472734">
                  <a:extLst>
                    <a:ext uri="{9D8B030D-6E8A-4147-A177-3AD203B41FA5}">
                      <a16:colId xmlns:a16="http://schemas.microsoft.com/office/drawing/2014/main" val="557432793"/>
                    </a:ext>
                  </a:extLst>
                </a:gridCol>
                <a:gridCol w="1672735">
                  <a:extLst>
                    <a:ext uri="{9D8B030D-6E8A-4147-A177-3AD203B41FA5}">
                      <a16:colId xmlns:a16="http://schemas.microsoft.com/office/drawing/2014/main" val="1077192845"/>
                    </a:ext>
                  </a:extLst>
                </a:gridCol>
              </a:tblGrid>
              <a:tr h="332001">
                <a:tc>
                  <a:txBody>
                    <a:bodyPr/>
                    <a:lstStyle/>
                    <a:p>
                      <a:pPr algn="l" rtl="0" fontAlgn="base">
                        <a:lnSpc>
                          <a:spcPts val="1200"/>
                        </a:lnSpc>
                        <a:buNone/>
                      </a:pPr>
                      <a:r>
                        <a:rPr lang="en-US" sz="1800" b="1" i="0">
                          <a:effectLst/>
                          <a:latin typeface="Times New Roman" panose="02020603050405020304" pitchFamily="18" charset="0"/>
                        </a:rPr>
                        <a:t>Variable</a:t>
                      </a:r>
                      <a:r>
                        <a:rPr lang="en-US" sz="1800" b="0" i="0">
                          <a:effectLst/>
                          <a:latin typeface="Times New Roman" panose="02020603050405020304" pitchFamily="18"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rtl="0" fontAlgn="base">
                        <a:lnSpc>
                          <a:spcPts val="1200"/>
                        </a:lnSpc>
                        <a:buNone/>
                      </a:pPr>
                      <a:r>
                        <a:rPr lang="en-US" sz="1800" b="1" i="0">
                          <a:effectLst/>
                          <a:latin typeface="Times New Roman" panose="02020603050405020304" pitchFamily="18" charset="0"/>
                        </a:rPr>
                        <a:t>Estimate</a:t>
                      </a:r>
                      <a:r>
                        <a:rPr lang="en-US" sz="1800" b="0" i="0">
                          <a:effectLst/>
                          <a:latin typeface="Times New Roman" panose="02020603050405020304" pitchFamily="18"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rtl="0" fontAlgn="base">
                        <a:lnSpc>
                          <a:spcPts val="1200"/>
                        </a:lnSpc>
                        <a:buNone/>
                      </a:pPr>
                      <a:r>
                        <a:rPr lang="en-US" sz="1800" b="1" i="0">
                          <a:effectLst/>
                          <a:latin typeface="Times New Roman" panose="02020603050405020304" pitchFamily="18" charset="0"/>
                        </a:rPr>
                        <a:t>Std. Error</a:t>
                      </a:r>
                      <a:r>
                        <a:rPr lang="en-US" sz="1800" b="0" i="0">
                          <a:effectLst/>
                          <a:latin typeface="Times New Roman" panose="02020603050405020304" pitchFamily="18"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rtl="0" fontAlgn="base">
                        <a:lnSpc>
                          <a:spcPts val="1200"/>
                        </a:lnSpc>
                        <a:buNone/>
                      </a:pPr>
                      <a:r>
                        <a:rPr lang="en-US" sz="1800" b="1" i="0">
                          <a:effectLst/>
                          <a:latin typeface="Times New Roman" panose="02020603050405020304" pitchFamily="18" charset="0"/>
                        </a:rPr>
                        <a:t>t-value</a:t>
                      </a:r>
                      <a:r>
                        <a:rPr lang="en-US" sz="1800" b="0" i="0">
                          <a:effectLst/>
                          <a:latin typeface="Times New Roman" panose="02020603050405020304" pitchFamily="18"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rtl="0" fontAlgn="base">
                        <a:lnSpc>
                          <a:spcPts val="1200"/>
                        </a:lnSpc>
                        <a:buNone/>
                      </a:pPr>
                      <a:r>
                        <a:rPr lang="en-US" sz="1800" b="1" i="0" err="1">
                          <a:effectLst/>
                          <a:latin typeface="Times New Roman" panose="02020603050405020304" pitchFamily="18" charset="0"/>
                        </a:rPr>
                        <a:t>Pr</a:t>
                      </a:r>
                      <a:r>
                        <a:rPr lang="en-US" sz="1800" b="1" i="0">
                          <a:effectLst/>
                          <a:latin typeface="Times New Roman" panose="02020603050405020304" pitchFamily="18" charset="0"/>
                        </a:rPr>
                        <a:t>(&gt;|t|)</a:t>
                      </a:r>
                      <a:r>
                        <a:rPr lang="en-US" sz="1800" b="0" i="0">
                          <a:effectLst/>
                          <a:latin typeface="Times New Roman" panose="02020603050405020304" pitchFamily="18"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rtl="0" fontAlgn="base">
                        <a:lnSpc>
                          <a:spcPts val="1200"/>
                        </a:lnSpc>
                        <a:buNone/>
                      </a:pPr>
                      <a:r>
                        <a:rPr lang="en-US" sz="1800" b="1" i="0">
                          <a:effectLst/>
                          <a:latin typeface="Times New Roman" panose="02020603050405020304" pitchFamily="18" charset="0"/>
                        </a:rPr>
                        <a:t>Significance</a:t>
                      </a:r>
                      <a:r>
                        <a:rPr lang="en-US" sz="1800" b="0" i="0">
                          <a:effectLst/>
                          <a:latin typeface="Times New Roman" panose="02020603050405020304" pitchFamily="18"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87445845"/>
                  </a:ext>
                </a:extLst>
              </a:tr>
              <a:tr h="332001">
                <a:tc>
                  <a:txBody>
                    <a:bodyPr/>
                    <a:lstStyle/>
                    <a:p>
                      <a:pPr algn="l" rtl="0" fontAlgn="base">
                        <a:lnSpc>
                          <a:spcPts val="1200"/>
                        </a:lnSpc>
                        <a:buNone/>
                      </a:pPr>
                      <a:r>
                        <a:rPr lang="en-US" sz="1800" b="0" i="0">
                          <a:effectLst/>
                          <a:latin typeface="Times New Roman" panose="02020603050405020304" pitchFamily="18" charset="0"/>
                        </a:rPr>
                        <a:t>(Intercept)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0.115926 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0.002894 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40.062676 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&lt; 2.2e-16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07810127"/>
                  </a:ext>
                </a:extLst>
              </a:tr>
              <a:tr h="332001">
                <a:tc>
                  <a:txBody>
                    <a:bodyPr/>
                    <a:lstStyle/>
                    <a:p>
                      <a:pPr algn="l" rtl="0" fontAlgn="base">
                        <a:lnSpc>
                          <a:spcPts val="1200"/>
                        </a:lnSpc>
                        <a:buNone/>
                      </a:pPr>
                      <a:r>
                        <a:rPr lang="en-US" sz="1800" b="0" i="0">
                          <a:effectLst/>
                          <a:latin typeface="Times New Roman" panose="02020603050405020304" pitchFamily="18" charset="0"/>
                        </a:rPr>
                        <a:t>Punishment (Treatment)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-0.020213 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0.003190 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-6.337357 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2.3420e-10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922716967"/>
                  </a:ext>
                </a:extLst>
              </a:tr>
              <a:tr h="332001">
                <a:tc>
                  <a:txBody>
                    <a:bodyPr/>
                    <a:lstStyle/>
                    <a:p>
                      <a:pPr algn="l" rtl="0" fontAlgn="base">
                        <a:lnSpc>
                          <a:spcPts val="1200"/>
                        </a:lnSpc>
                        <a:buNone/>
                      </a:pPr>
                      <a:r>
                        <a:rPr lang="en-US" sz="1800" b="0" i="0">
                          <a:effectLst/>
                          <a:latin typeface="Times New Roman" panose="02020603050405020304" pitchFamily="18" charset="0"/>
                        </a:rPr>
                        <a:t>BAC (Centered at 0.08)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-0.034321 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0.083885 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-0.409140 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6.8244e-01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 </a:t>
                      </a: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249065979"/>
                  </a:ext>
                </a:extLst>
              </a:tr>
              <a:tr h="334687">
                <a:tc>
                  <a:txBody>
                    <a:bodyPr/>
                    <a:lstStyle/>
                    <a:p>
                      <a:pPr algn="l" rtl="0" fontAlgn="base">
                        <a:lnSpc>
                          <a:spcPts val="1200"/>
                        </a:lnSpc>
                        <a:buNone/>
                      </a:pPr>
                      <a:r>
                        <a:rPr lang="en-US" sz="1800" b="0" i="0">
                          <a:effectLst/>
                          <a:latin typeface="Aptos" panose="020B0004020202020204" pitchFamily="34" charset="0"/>
                        </a:rPr>
                        <a:t>Accident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Aptos" panose="020B0004020202020204" pitchFamily="34" charset="0"/>
                        </a:rPr>
                        <a:t>-0.009051 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Aptos" panose="020B0004020202020204" pitchFamily="34" charset="0"/>
                        </a:rPr>
                        <a:t>0.001982 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Aptos" panose="020B0004020202020204" pitchFamily="34" charset="0"/>
                        </a:rPr>
                        <a:t>-4.566740 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Aptos" panose="020B0004020202020204" pitchFamily="34" charset="0"/>
                        </a:rPr>
                        <a:t>4.9564e-06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Aptos" panose="020B0004020202020204" pitchFamily="34"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732147323"/>
                  </a:ext>
                </a:extLst>
              </a:tr>
              <a:tr h="332001">
                <a:tc>
                  <a:txBody>
                    <a:bodyPr/>
                    <a:lstStyle/>
                    <a:p>
                      <a:pPr algn="l" rtl="0" fontAlgn="base">
                        <a:lnSpc>
                          <a:spcPts val="1200"/>
                        </a:lnSpc>
                        <a:buNone/>
                      </a:pPr>
                      <a:r>
                        <a:rPr lang="en-US" sz="1800" b="0" i="0">
                          <a:effectLst/>
                          <a:latin typeface="Times New Roman" panose="02020603050405020304" pitchFamily="18" charset="0"/>
                        </a:rPr>
                        <a:t>Interaction (Punishment × BAC)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0.369573 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0.085524 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4.321265 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1.5521e-05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base">
                        <a:lnSpc>
                          <a:spcPts val="1200"/>
                        </a:lnSpc>
                        <a:buNone/>
                      </a:pPr>
                      <a:r>
                        <a:rPr lang="en-US" sz="1800" b="0" i="0">
                          <a:effectLst/>
                          <a:latin typeface="Times New Roman" panose="02020603050405020304" pitchFamily="18" charset="0"/>
                        </a:rPr>
                        <a:t>*** </a:t>
                      </a:r>
                      <a:endParaRPr lang="en-US" sz="1800" b="0" i="0">
                        <a:effectLst/>
                      </a:endParaRPr>
                    </a:p>
                  </a:txBody>
                  <a:tcPr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41759529"/>
                  </a:ext>
                </a:extLst>
              </a:tr>
            </a:tbl>
          </a:graphicData>
        </a:graphic>
      </p:graphicFrame>
      <p:sp>
        <p:nvSpPr>
          <p:cNvPr id="5" name="TextBox 4">
            <a:extLst>
              <a:ext uri="{FF2B5EF4-FFF2-40B4-BE49-F238E27FC236}">
                <a16:creationId xmlns:a16="http://schemas.microsoft.com/office/drawing/2014/main" id="{9384E94A-FC80-2AA4-33E3-5CFD1165BD93}"/>
              </a:ext>
            </a:extLst>
          </p:cNvPr>
          <p:cNvSpPr txBox="1"/>
          <p:nvPr/>
        </p:nvSpPr>
        <p:spPr>
          <a:xfrm>
            <a:off x="184404" y="2887682"/>
            <a:ext cx="11823192" cy="3970318"/>
          </a:xfrm>
          <a:prstGeom prst="rect">
            <a:avLst/>
          </a:prstGeom>
          <a:noFill/>
        </p:spPr>
        <p:txBody>
          <a:bodyPr wrap="square" rtlCol="0">
            <a:spAutoFit/>
          </a:bodyPr>
          <a:lstStyle/>
          <a:p>
            <a:pPr marL="285750" indent="-285750" fontAlgn="base">
              <a:buFont typeface="Arial" panose="020B0604020202020204" pitchFamily="34" charset="0"/>
              <a:buChar char="•"/>
            </a:pPr>
            <a:r>
              <a:rPr lang="en-US"/>
              <a:t>Based on the intercept: </a:t>
            </a:r>
            <a:r>
              <a:rPr lang="en-US" b="1">
                <a:solidFill>
                  <a:schemeClr val="accent6">
                    <a:lumMod val="75000"/>
                  </a:schemeClr>
                </a:solidFill>
              </a:rPr>
              <a:t>11.96% chance of committing another DUI </a:t>
            </a:r>
            <a:r>
              <a:rPr lang="en-US"/>
              <a:t>offense in the future. </a:t>
            </a:r>
          </a:p>
          <a:p>
            <a:pPr marL="285750" indent="-285750" fontAlgn="base">
              <a:buFont typeface="Arial" panose="020B0604020202020204" pitchFamily="34" charset="0"/>
              <a:buChar char="•"/>
            </a:pPr>
            <a:r>
              <a:rPr lang="en-US"/>
              <a:t>The coefficient for Punishment tells </a:t>
            </a:r>
            <a:r>
              <a:rPr lang="en-US" b="1">
                <a:solidFill>
                  <a:schemeClr val="accent6">
                    <a:lumMod val="75000"/>
                  </a:schemeClr>
                </a:solidFill>
              </a:rPr>
              <a:t>2.02 percentage points less likely to commit another DUI in the future </a:t>
            </a:r>
            <a:r>
              <a:rPr lang="en-US" b="1">
                <a:solidFill>
                  <a:schemeClr val="accent6">
                    <a:lumMod val="75000"/>
                  </a:schemeClr>
                </a:solidFill>
                <a:sym typeface="Wingdings" panose="05000000000000000000" pitchFamily="2" charset="2"/>
              </a:rPr>
              <a:t></a:t>
            </a:r>
            <a:r>
              <a:rPr lang="en-US"/>
              <a:t>the punishment at the legal threshold may discourage repeated drunk driving behavior. </a:t>
            </a:r>
          </a:p>
          <a:p>
            <a:pPr marL="285750" indent="-285750" fontAlgn="base">
              <a:buFont typeface="Arial" panose="020B0604020202020204" pitchFamily="34" charset="0"/>
              <a:buChar char="•"/>
            </a:pPr>
            <a:r>
              <a:rPr lang="en-US"/>
              <a:t>The coefficient for </a:t>
            </a:r>
            <a:r>
              <a:rPr lang="en-US" err="1"/>
              <a:t>bac_centered</a:t>
            </a:r>
            <a:r>
              <a:rPr lang="en-US"/>
              <a:t> </a:t>
            </a:r>
            <a:r>
              <a:rPr lang="en-US" b="1"/>
              <a:t>(-0.034321) </a:t>
            </a:r>
            <a:r>
              <a:rPr lang="en-US"/>
              <a:t>shows that </a:t>
            </a:r>
            <a:r>
              <a:rPr lang="en-US" b="1">
                <a:solidFill>
                  <a:schemeClr val="accent6">
                    <a:lumMod val="75000"/>
                  </a:schemeClr>
                </a:solidFill>
              </a:rPr>
              <a:t>as drivers approach the cutoff, their probability for recidivism slightly decreases</a:t>
            </a:r>
            <a:r>
              <a:rPr lang="en-US"/>
              <a:t>. An explanation for this might be that drivers that were close to getting the treatment were now aware of the harshness of the punishment, making them hesitant to drive in the same conditions in the future. </a:t>
            </a:r>
          </a:p>
          <a:p>
            <a:pPr marL="285750" indent="-285750" fontAlgn="base">
              <a:buFont typeface="Arial" panose="020B0604020202020204" pitchFamily="34" charset="0"/>
              <a:buChar char="•"/>
            </a:pPr>
            <a:r>
              <a:rPr lang="en-US"/>
              <a:t>The interaction term (</a:t>
            </a:r>
            <a:r>
              <a:rPr lang="en-US" b="1"/>
              <a:t>Punishment × </a:t>
            </a:r>
            <a:r>
              <a:rPr lang="en-US" b="1" err="1"/>
              <a:t>bac_centered</a:t>
            </a:r>
            <a:r>
              <a:rPr lang="en-US" b="1"/>
              <a:t> = 0.369573) </a:t>
            </a:r>
            <a:r>
              <a:rPr lang="en-US"/>
              <a:t>shows that the relationship between BAC and recidivism changes once the punishment threshold is crossed. In other words, the slope of recidivism with respect to BAC is different for drivers above the legal limit compared to those below it. </a:t>
            </a:r>
          </a:p>
          <a:p>
            <a:pPr fontAlgn="base"/>
            <a:r>
              <a:rPr lang="en-US" b="1"/>
              <a:t>	The results are statistically significant </a:t>
            </a:r>
            <a:r>
              <a:rPr lang="en-US"/>
              <a:t>since the p-value for the punishment coefficient is extremely small. Overall, the results suggest that the 0.08 BAC cutoff has a deterrent effect, meaning that drivers who receive the stricter punishment at the threshold are somewhat less likely to commit another DUI in the future. </a:t>
            </a:r>
          </a:p>
          <a:p>
            <a:endParaRPr lang="en-US"/>
          </a:p>
        </p:txBody>
      </p:sp>
      <p:cxnSp>
        <p:nvCxnSpPr>
          <p:cNvPr id="7" name="Straight Arrow Connector 6">
            <a:extLst>
              <a:ext uri="{FF2B5EF4-FFF2-40B4-BE49-F238E27FC236}">
                <a16:creationId xmlns:a16="http://schemas.microsoft.com/office/drawing/2014/main" id="{E276AC39-806B-4A06-5D29-1B1FB7ED4053}"/>
              </a:ext>
            </a:extLst>
          </p:cNvPr>
          <p:cNvCxnSpPr/>
          <p:nvPr/>
        </p:nvCxnSpPr>
        <p:spPr>
          <a:xfrm>
            <a:off x="283464" y="5815584"/>
            <a:ext cx="749808" cy="0"/>
          </a:xfrm>
          <a:prstGeom prst="straightConnector1">
            <a:avLst/>
          </a:prstGeom>
          <a:ln w="57150">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132225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F2E97-B289-D864-7AC4-3DD396A98008}"/>
              </a:ext>
            </a:extLst>
          </p:cNvPr>
          <p:cNvSpPr>
            <a:spLocks noGrp="1"/>
          </p:cNvSpPr>
          <p:nvPr>
            <p:ph type="title"/>
          </p:nvPr>
        </p:nvSpPr>
        <p:spPr>
          <a:xfrm>
            <a:off x="216408" y="173101"/>
            <a:ext cx="10515600" cy="631571"/>
          </a:xfrm>
        </p:spPr>
        <p:txBody>
          <a:bodyPr>
            <a:normAutofit fontScale="90000"/>
          </a:bodyPr>
          <a:lstStyle/>
          <a:p>
            <a:r>
              <a:rPr lang="en-US" sz="4000" b="1"/>
              <a:t>Conclusion and Policy Implications</a:t>
            </a:r>
          </a:p>
        </p:txBody>
      </p:sp>
      <p:sp>
        <p:nvSpPr>
          <p:cNvPr id="3" name="Content Placeholder 2">
            <a:extLst>
              <a:ext uri="{FF2B5EF4-FFF2-40B4-BE49-F238E27FC236}">
                <a16:creationId xmlns:a16="http://schemas.microsoft.com/office/drawing/2014/main" id="{7A42140B-8A77-2A94-1868-D810BA61A259}"/>
              </a:ext>
            </a:extLst>
          </p:cNvPr>
          <p:cNvSpPr>
            <a:spLocks noGrp="1"/>
          </p:cNvSpPr>
          <p:nvPr>
            <p:ph idx="1"/>
          </p:nvPr>
        </p:nvSpPr>
        <p:spPr>
          <a:xfrm>
            <a:off x="335280" y="1139825"/>
            <a:ext cx="11780520" cy="4351338"/>
          </a:xfrm>
        </p:spPr>
        <p:txBody>
          <a:bodyPr>
            <a:normAutofit fontScale="70000" lnSpcReduction="20000"/>
          </a:bodyPr>
          <a:lstStyle/>
          <a:p>
            <a:r>
              <a:rPr lang="en-US" sz="2900"/>
              <a:t>0.08 threshold has a positive impact on drivers as because it successfully discourages them to offend the regulation in future driving, which is also very much aligned to general common sense and our own assumption before carrying out the study. </a:t>
            </a:r>
          </a:p>
          <a:p>
            <a:r>
              <a:rPr lang="en-US" sz="2900"/>
              <a:t>The estimated coefficient on the treatment variable is -0.020213 and statistically significant </a:t>
            </a:r>
            <a:r>
              <a:rPr lang="en-US" sz="2900">
                <a:sym typeface="Wingdings" panose="05000000000000000000" pitchFamily="2" charset="2"/>
              </a:rPr>
              <a:t> </a:t>
            </a:r>
            <a:r>
              <a:rPr lang="en-US" sz="2900"/>
              <a:t>a negative coefficient shows a discouraging effect of the current WA DUI policy.</a:t>
            </a:r>
          </a:p>
          <a:p>
            <a:r>
              <a:rPr lang="en-US" sz="2900"/>
              <a:t>DUI penalties reduces the possibility of future recidivism by approximately 2.02 percentage points</a:t>
            </a:r>
          </a:p>
          <a:p>
            <a:r>
              <a:rPr lang="en-US" sz="2900"/>
              <a:t>Compared to the baseline recidivism rate (11.96%), it shows a successful reduction of around 17.4%, which suggests that the current 0.08 BAC threshold can mitigate future violations while driving on the road.</a:t>
            </a:r>
          </a:p>
          <a:p>
            <a:pPr>
              <a:buFont typeface="Wingdings" panose="05000000000000000000" pitchFamily="2" charset="2"/>
              <a:buChar char="à"/>
            </a:pPr>
            <a:r>
              <a:rPr lang="en-US" sz="2900">
                <a:sym typeface="Wingdings" panose="05000000000000000000" pitchFamily="2" charset="2"/>
              </a:rPr>
              <a:t>T</a:t>
            </a:r>
            <a:r>
              <a:rPr lang="en-US" sz="2900"/>
              <a:t>he estimated deterrent effect of the 0.08 BAC threshold, the results of this study suggest that DUI enforcement can successfully discourage driving violations in the future. Drivers who receive DUI penalties show a weaker likelihood to commit sequential offenses, suggesting that legal obligations may mitigate risky driving behavior.</a:t>
            </a:r>
          </a:p>
          <a:p>
            <a:pPr>
              <a:buFont typeface="Wingdings" panose="05000000000000000000" pitchFamily="2" charset="2"/>
              <a:buChar char="à"/>
            </a:pPr>
            <a:r>
              <a:rPr lang="en-US" sz="2900"/>
              <a:t>Maintaining an effectively high BAC threshold can successfully reduce repeated violations in the future</a:t>
            </a:r>
          </a:p>
          <a:p>
            <a:pPr>
              <a:buFont typeface="Wingdings" panose="05000000000000000000" pitchFamily="2" charset="2"/>
              <a:buChar char="à"/>
            </a:pPr>
            <a:r>
              <a:rPr lang="en-US" sz="2900"/>
              <a:t>If residents in Washington State ever yearned for a higher threshold and stricter policy implementation, our current findings offer some supportive evidence in doing so to bring more </a:t>
            </a:r>
            <a:r>
              <a:rPr lang="en-US"/>
              <a:t>safety on the road. </a:t>
            </a:r>
            <a:endParaRPr lang="en-US" sz="1800"/>
          </a:p>
        </p:txBody>
      </p:sp>
    </p:spTree>
    <p:extLst>
      <p:ext uri="{BB962C8B-B14F-4D97-AF65-F5344CB8AC3E}">
        <p14:creationId xmlns:p14="http://schemas.microsoft.com/office/powerpoint/2010/main" val="2339007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5875D-60EC-91D8-ED28-56CAB856C0A4}"/>
              </a:ext>
            </a:extLst>
          </p:cNvPr>
          <p:cNvSpPr>
            <a:spLocks noGrp="1"/>
          </p:cNvSpPr>
          <p:nvPr>
            <p:ph type="title"/>
          </p:nvPr>
        </p:nvSpPr>
        <p:spPr>
          <a:xfrm>
            <a:off x="466090" y="895923"/>
            <a:ext cx="10515600" cy="1719262"/>
          </a:xfrm>
        </p:spPr>
        <p:txBody>
          <a:bodyPr/>
          <a:lstStyle/>
          <a:p>
            <a:r>
              <a:rPr lang="en-US"/>
              <a:t>THANK YOU</a:t>
            </a:r>
          </a:p>
        </p:txBody>
      </p:sp>
      <p:sp>
        <p:nvSpPr>
          <p:cNvPr id="3" name="Text Placeholder 2">
            <a:extLst>
              <a:ext uri="{FF2B5EF4-FFF2-40B4-BE49-F238E27FC236}">
                <a16:creationId xmlns:a16="http://schemas.microsoft.com/office/drawing/2014/main" id="{30984905-13FB-D690-3C13-EAC26164E9A4}"/>
              </a:ext>
            </a:extLst>
          </p:cNvPr>
          <p:cNvSpPr>
            <a:spLocks noGrp="1"/>
          </p:cNvSpPr>
          <p:nvPr>
            <p:ph type="body" idx="1"/>
          </p:nvPr>
        </p:nvSpPr>
        <p:spPr>
          <a:xfrm>
            <a:off x="594106" y="2678907"/>
            <a:ext cx="10515600" cy="521494"/>
          </a:xfrm>
        </p:spPr>
        <p:txBody>
          <a:bodyPr/>
          <a:lstStyle/>
          <a:p>
            <a:r>
              <a:rPr lang="en-US"/>
              <a:t>Group 4</a:t>
            </a:r>
          </a:p>
        </p:txBody>
      </p:sp>
    </p:spTree>
    <p:extLst>
      <p:ext uri="{BB962C8B-B14F-4D97-AF65-F5344CB8AC3E}">
        <p14:creationId xmlns:p14="http://schemas.microsoft.com/office/powerpoint/2010/main" val="2668274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Deterrent Effects of DUI Punishment at the 0.08 BAC Threshold:  Evidence from a Regression Discontinuity Design </vt:lpstr>
      <vt:lpstr>High number of alcohol-related incidents in WA</vt:lpstr>
      <vt:lpstr>Less strict in penalties compares to Canada</vt:lpstr>
      <vt:lpstr>Question to discuss</vt:lpstr>
      <vt:lpstr>Survey Background</vt:lpstr>
      <vt:lpstr>Regression discontinuity design validation</vt:lpstr>
      <vt:lpstr>Introduction to RDD Components</vt:lpstr>
      <vt:lpstr>Graphical Evidence</vt:lpstr>
      <vt:lpstr>Regression Model Output</vt:lpstr>
      <vt:lpstr>Conclusion and Policy Implications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Tien Nguyen</dc:creator>
  <cp:revision>2</cp:revision>
  <dcterms:created xsi:type="dcterms:W3CDTF">2026-03-20T17:13:16Z</dcterms:created>
  <dcterms:modified xsi:type="dcterms:W3CDTF">2026-03-20T18:39:56Z</dcterms:modified>
</cp:coreProperties>
</file>